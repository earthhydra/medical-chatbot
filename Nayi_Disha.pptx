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B1F1F"/>
          </a:solidFill>
          <a:ln w="12700">
            <a:solidFill>
              <a:srgbClr val="0B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64008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Nayi Disha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नई दिशा  ·  New Direction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Trauma-Informed AI Support Chatbot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4114800" cy="18288"/>
          </a:xfrm>
          <a:prstGeom prst="rect">
            <a:avLst/>
          </a:prstGeom>
          <a:solidFill>
            <a:srgbClr val="0A9DAF">
              <a:alpha val="50000"/>
            </a:srgbClr>
          </a:solidFill>
          <a:ln w="12700">
            <a:solidFill>
              <a:srgbClr val="0A9D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83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Ekansh Sharma &amp; Preet Sharma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5E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Dr. Gopendra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492240" y="1005840"/>
            <a:ext cx="1645920" cy="1645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2834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Private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448056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54680" y="448056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LangChain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06440" y="448056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0B1F1F"/>
          </a:solidFill>
          <a:ln w="12700">
            <a:solidFill>
              <a:srgbClr val="0B1F1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3474720"/>
          </a:xfrm>
          <a:prstGeom prst="rect">
            <a:avLst/>
          </a:prstGeom>
          <a:solidFill>
            <a:srgbClr val="A8564A"/>
          </a:solidFill>
          <a:ln w="12700">
            <a:solidFill>
              <a:srgbClr val="A856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7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1645920"/>
            <a:ext cx="35204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673352"/>
            <a:ext cx="34015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Millions of abuse survivors struggle to access professional counseling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304288"/>
            <a:ext cx="35204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331720"/>
            <a:ext cx="34015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Stigma, cost, and geographic barriers block timely help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962656"/>
            <a:ext cx="35204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990088"/>
            <a:ext cx="34015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Existing digital tools lack empathy and domain grounding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621024"/>
            <a:ext cx="35204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3648456"/>
            <a:ext cx="34015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real-time risk or severity tracking in current solutions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914400"/>
            <a:ext cx="64008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5156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074920" y="1645920"/>
            <a:ext cx="35204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38928" y="1673352"/>
            <a:ext cx="34015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Nayi Disha — a safe, always-available AI companion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074920" y="2304288"/>
            <a:ext cx="35204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38928" y="2331720"/>
            <a:ext cx="34015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responses in real counseling dialogues (RAG)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074920" y="2962656"/>
            <a:ext cx="35204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38928" y="2990088"/>
            <a:ext cx="34015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emotional validation and practical coping steps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074920" y="3621024"/>
            <a:ext cx="352044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38928" y="3648456"/>
            <a:ext cx="34015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session severity with real-time trauma classification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&amp; Research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9748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General LLMs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2514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 without domain grounding — not safe for trauma support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96012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960120"/>
            <a:ext cx="2697480" cy="54864"/>
          </a:xfrm>
          <a:prstGeom prst="rect">
            <a:avLst/>
          </a:prstGeom>
          <a:solidFill>
            <a:srgbClr val="A07030"/>
          </a:solidFill>
          <a:ln w="12700">
            <a:solidFill>
              <a:srgbClr val="A0703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97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7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Rule-Based Bots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10128" y="1874520"/>
            <a:ext cx="2514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&amp; scripted — cannot handle the nuance of trauma conversations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71616" y="96012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71616" y="960120"/>
            <a:ext cx="2697480" cy="54864"/>
          </a:xfrm>
          <a:prstGeom prst="rect">
            <a:avLst/>
          </a:prstGeom>
          <a:solidFill>
            <a:srgbClr val="5B3F8A"/>
          </a:solidFill>
          <a:ln w="12700">
            <a:solidFill>
              <a:srgbClr val="5B3F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0972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3056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3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Sentiment Classifiers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63056" y="1874520"/>
            <a:ext cx="2514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severity tracking and crisis flagging — miss urgent signals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063240"/>
            <a:ext cx="8412480" cy="1691640"/>
          </a:xfrm>
          <a:prstGeom prst="rect">
            <a:avLst/>
          </a:prstGeom>
          <a:solidFill>
            <a:srgbClr val="0B1F1F"/>
          </a:solidFill>
          <a:ln w="12700">
            <a:solidFill>
              <a:srgbClr val="0B1F1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3063240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8211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31272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Contribution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" y="354787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Nayi Disha combines Retrieval-Augmented Generation (RAG) with real-time trauma classification and session-level severity tracking — the first system to address all three gaps simultaneously for abuse survivor support.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554480" cy="2743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777240"/>
            <a:ext cx="402336" cy="40233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16916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2267712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MHLCD counseling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→ LangChain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911096" y="2267712"/>
            <a:ext cx="11887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66544" y="914400"/>
            <a:ext cx="1554480" cy="2743200"/>
          </a:xfrm>
          <a:prstGeom prst="rect">
            <a:avLst/>
          </a:prstGeom>
          <a:solidFill>
            <a:srgbClr val="0A9DAF"/>
          </a:solidFill>
          <a:ln w="12700">
            <a:solidFill>
              <a:srgbClr val="0A9DA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42616" y="777240"/>
            <a:ext cx="402336" cy="40233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42616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05156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39696" y="16916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Vectorstore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139696" y="2267712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stores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embeddings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0" y="2267712"/>
            <a:ext cx="11887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13048" y="914400"/>
            <a:ext cx="1554480" cy="2743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389120" y="777240"/>
            <a:ext cx="402336" cy="40233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89120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05156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86200" y="16916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Engine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886200" y="2267712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top-3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counseling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chunks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04104" y="2267712"/>
            <a:ext cx="11887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559552" y="914400"/>
            <a:ext cx="1554480" cy="2743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35624" y="777240"/>
            <a:ext cx="402336" cy="40233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35624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05156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32704" y="16916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632704" y="2267712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response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coping steps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150608" y="2267712"/>
            <a:ext cx="11887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306056" y="914400"/>
            <a:ext cx="1554480" cy="2743200"/>
          </a:xfrm>
          <a:prstGeom prst="rect">
            <a:avLst/>
          </a:prstGeom>
          <a:solidFill>
            <a:srgbClr val="4A6B6B"/>
          </a:solidFill>
          <a:ln w="12700">
            <a:solidFill>
              <a:srgbClr val="4A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882128" y="777240"/>
            <a:ext cx="402336" cy="402336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882128" y="777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1051560"/>
            <a:ext cx="548640" cy="5486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379208" y="16916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Trauma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379208" y="2267712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categories, severity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&amp; danger flag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message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 →  Retrieve  →  Generate  →  Respond  →  Classify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RAG-Based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960120"/>
            <a:ext cx="4114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9966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2527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→ 384-dim vector via all-MiniLM-L6-v2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" y="1554480"/>
            <a:ext cx="0" cy="320040"/>
          </a:xfrm>
          <a:prstGeom prst="line">
            <a:avLst/>
          </a:prstGeom>
          <a:noFill/>
          <a:ln w="19050">
            <a:solidFill>
              <a:srgbClr val="028090"/>
            </a:solidFill>
            <a:prstDash val="dot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0A9DAF"/>
          </a:solidFill>
          <a:ln w="12700">
            <a:solidFill>
              <a:srgbClr val="0A9D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1856232"/>
            <a:ext cx="4114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A9D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4128" y="18928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9D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 Retrieval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1488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top-3 most semantically similar counseling chunks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" y="2450592"/>
            <a:ext cx="0" cy="320040"/>
          </a:xfrm>
          <a:prstGeom prst="line">
            <a:avLst/>
          </a:prstGeom>
          <a:noFill/>
          <a:ln w="19050">
            <a:solidFill>
              <a:srgbClr val="0A9DAF"/>
            </a:solidFill>
            <a:prstDash val="dot"/>
          </a:ln>
        </p:spPr>
      </p:sp>
      <p:sp>
        <p:nvSpPr>
          <p:cNvPr id="17" name="Shape 15"/>
          <p:cNvSpPr/>
          <p:nvPr/>
        </p:nvSpPr>
        <p:spPr>
          <a:xfrm>
            <a:off x="365760" y="286207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2752344"/>
            <a:ext cx="4114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24128" y="2788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LCEL Chain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30449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 fed into specialized trauma-informed prompt template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" y="3346704"/>
            <a:ext cx="0" cy="320040"/>
          </a:xfrm>
          <a:prstGeom prst="line">
            <a:avLst/>
          </a:prstGeom>
          <a:noFill/>
          <a:ln w="19050">
            <a:solidFill>
              <a:srgbClr val="02C39A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365760" y="3758184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3648456"/>
            <a:ext cx="4114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24128" y="3685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Response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94106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validates feelings &amp; provides numbered coping steps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914400"/>
            <a:ext cx="3291840" cy="3840480"/>
          </a:xfrm>
          <a:prstGeom prst="rect">
            <a:avLst/>
          </a:prstGeom>
          <a:solidFill>
            <a:srgbClr val="0B1F1F"/>
          </a:solidFill>
          <a:ln w="12700">
            <a:solidFill>
              <a:srgbClr val="0B1F1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914400"/>
            <a:ext cx="3291840" cy="54864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10241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7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Safety Net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577840" y="1554480"/>
            <a:ext cx="3108960" cy="49377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581912"/>
            <a:ext cx="3017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scans response for action words (try, do, practice, steps…)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2121408"/>
            <a:ext cx="3108960" cy="49377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148840"/>
            <a:ext cx="3017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bullet / numbered list patterns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2688336"/>
            <a:ext cx="3108960" cy="49377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715768"/>
            <a:ext cx="3017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actionable content detected 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3255264"/>
            <a:ext cx="3108960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3282696"/>
            <a:ext cx="3017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LLM call generates 4 practical coping steps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3822192"/>
            <a:ext cx="3108960" cy="49377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3849624"/>
            <a:ext cx="3017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appended automatically to the response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Trauma Classifier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4754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Abuse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95728" y="960120"/>
            <a:ext cx="192024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95728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Domestic Violence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25696" y="960120"/>
            <a:ext cx="192024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25696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 Abuse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55664" y="960120"/>
            <a:ext cx="1920240" cy="47548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55664" y="960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Cyberbullying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1536192"/>
            <a:ext cx="1920240" cy="47548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15361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 Abuse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90088" y="1536192"/>
            <a:ext cx="1920240" cy="47548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90088" y="15361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Neglect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0056" y="1536192"/>
            <a:ext cx="1920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0056" y="15361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 Trauma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411480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12848"/>
            <a:ext cx="4114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042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Exponential Moving Average (EMA)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new_score  =  old × (1 - α)  +  current × 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0.4  ·  40% new, 60% history
</a:t>
            </a:r>
            <a:pPr algn="l" indent="0" marL="0">
              <a:buNone/>
            </a:pPr>
            <a:r>
              <a:rPr lang="en-US" sz="115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single-message spikes.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session-wide picture of trauma signals.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212848"/>
            <a:ext cx="4114800" cy="2514600"/>
          </a:xfrm>
          <a:prstGeom prst="rect">
            <a:avLst/>
          </a:prstGeom>
          <a:solidFill>
            <a:srgbClr val="0B1F1F"/>
          </a:solidFill>
          <a:ln w="12700">
            <a:solidFill>
              <a:srgbClr val="0B1F1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212848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042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One-Way Severity Escalation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859536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278892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05272" y="2999232"/>
            <a:ext cx="109728" cy="0"/>
          </a:xfrm>
          <a:prstGeom prst="line">
            <a:avLst/>
          </a:prstGeom>
          <a:noFill/>
          <a:ln w="19050">
            <a:solidFill>
              <a:srgbClr val="5EAD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24144" y="2788920"/>
            <a:ext cx="859536" cy="42062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24144" y="278892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74536" y="2999232"/>
            <a:ext cx="109728" cy="0"/>
          </a:xfrm>
          <a:prstGeom prst="line">
            <a:avLst/>
          </a:prstGeom>
          <a:noFill/>
          <a:ln w="19050">
            <a:solidFill>
              <a:srgbClr val="5EAD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93408" y="2788920"/>
            <a:ext cx="859536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93408" y="278892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43800" y="2999232"/>
            <a:ext cx="109728" cy="0"/>
          </a:xfrm>
          <a:prstGeom prst="line">
            <a:avLst/>
          </a:prstGeom>
          <a:noFill/>
          <a:ln w="19050">
            <a:solidFill>
              <a:srgbClr val="5EAD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62672" y="2788920"/>
            <a:ext cx="859536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62672" y="278892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31012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only escalates during a session — never drops.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signals remain visible even if later messages are casual.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Danger flag triggers emergency alert.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&amp; Privacy By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3840480"/>
          </a:xfrm>
          <a:prstGeom prst="rect">
            <a:avLst/>
          </a:prstGeom>
          <a:solidFill>
            <a:srgbClr val="0B1F1F"/>
          </a:solidFill>
          <a:ln w="12700">
            <a:solidFill>
              <a:srgbClr val="0B1F1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54864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7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First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5488" y="1600200"/>
            <a:ext cx="356616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27632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Immediate danger → alerts user to call 112 (Police) or 181 (Women Helpline)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" y="2258568"/>
            <a:ext cx="356616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28600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Crisis resources (iCall, Vandrevala Foundation) always visible in sidebar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" y="2916936"/>
            <a:ext cx="356616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944368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Prompt-level safety rules prevent harmful, misleading, or irresponsible advice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" y="3575304"/>
            <a:ext cx="356616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602736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Safety net LLM call ensures every response contains actionable coping steps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37760" y="914400"/>
            <a:ext cx="3840480" cy="3840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914400"/>
            <a:ext cx="3840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2412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96128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Guaranteed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047488" y="1600200"/>
            <a:ext cx="356616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20640" y="1627632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Zero PII (Personally Identifiable Information) collected at any point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47488" y="2258568"/>
            <a:ext cx="356616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20640" y="2286000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Conversations are never stored after the session ends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47488" y="2916936"/>
            <a:ext cx="356616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20640" y="2944368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Runs entirely on Streamlit — no external data logging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47488" y="3575304"/>
            <a:ext cx="356616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20640" y="3602736"/>
            <a:ext cx="34290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Users remain fully anonymous — no login or registration required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74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chatbot grounded in real counseling dialogues via RAG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46888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session insights with 7-category trauma classification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0632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severity escalation prevents high-risk signals from disappearing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6576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privacy by design — zero PII, no stored sessions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822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1371600" cy="12344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35040" y="1993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1371600"/>
            <a:ext cx="1371600" cy="12344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543800" y="1993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834640"/>
            <a:ext cx="1371600" cy="12344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035040" y="34564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43800" y="2834640"/>
            <a:ext cx="1371600" cy="12344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543800" y="34564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analytics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Ekansh Sharma &amp; Preet Sharma  ·  Supervised by Dr. Gopendra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Nayi Disha — A Trauma-Informed AI Support Chatbot</dc:title>
  <dc:subject>PptxGenJS Presentation</dc:subject>
  <dc:creator>Ekansh Sharma &amp; Preet Sharma</dc:creator>
  <cp:lastModifiedBy>Ekansh Sharma &amp; Preet Sharma</cp:lastModifiedBy>
  <cp:revision>1</cp:revision>
  <dcterms:created xsi:type="dcterms:W3CDTF">2026-05-26T05:34:05Z</dcterms:created>
  <dcterms:modified xsi:type="dcterms:W3CDTF">2026-05-26T05:34:05Z</dcterms:modified>
</cp:coreProperties>
</file>